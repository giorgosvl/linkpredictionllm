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13" autoAdjust="0"/>
    <p:restoredTop sz="94660"/>
  </p:normalViewPr>
  <p:slideViewPr>
    <p:cSldViewPr snapToGrid="0">
      <p:cViewPr varScale="1">
        <p:scale>
          <a:sx n="58" d="100"/>
          <a:sy n="58" d="100"/>
        </p:scale>
        <p:origin x="96" y="11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1B47EB6-68E6-2CD2-5693-29F796037464}"/>
              </a:ext>
            </a:extLst>
          </p:cNvPr>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p>
        </p:txBody>
      </p:sp>
      <p:sp>
        <p:nvSpPr>
          <p:cNvPr id="3" name="Υπότιτλος 2">
            <a:extLst>
              <a:ext uri="{FF2B5EF4-FFF2-40B4-BE49-F238E27FC236}">
                <a16:creationId xmlns:a16="http://schemas.microsoft.com/office/drawing/2014/main" id="{F7C18DCC-3ED8-5A86-063A-C251D51909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p>
        </p:txBody>
      </p:sp>
      <p:sp>
        <p:nvSpPr>
          <p:cNvPr id="4" name="Θέση ημερομηνίας 3">
            <a:extLst>
              <a:ext uri="{FF2B5EF4-FFF2-40B4-BE49-F238E27FC236}">
                <a16:creationId xmlns:a16="http://schemas.microsoft.com/office/drawing/2014/main" id="{EEB37663-D890-F9C9-3F74-839751B56567}"/>
              </a:ext>
            </a:extLst>
          </p:cNvPr>
          <p:cNvSpPr>
            <a:spLocks noGrp="1"/>
          </p:cNvSpPr>
          <p:nvPr>
            <p:ph type="dt" sz="half" idx="10"/>
          </p:nvPr>
        </p:nvSpPr>
        <p:spPr/>
        <p:txBody>
          <a:bodyPr/>
          <a:lstStyle/>
          <a:p>
            <a:fld id="{CD959FEE-4B8E-41F9-85AC-B64551958786}" type="datetimeFigureOut">
              <a:rPr lang="el-GR" smtClean="0"/>
              <a:t>14/6/2025</a:t>
            </a:fld>
            <a:endParaRPr lang="el-GR"/>
          </a:p>
        </p:txBody>
      </p:sp>
      <p:sp>
        <p:nvSpPr>
          <p:cNvPr id="5" name="Θέση υποσέλιδου 4">
            <a:extLst>
              <a:ext uri="{FF2B5EF4-FFF2-40B4-BE49-F238E27FC236}">
                <a16:creationId xmlns:a16="http://schemas.microsoft.com/office/drawing/2014/main" id="{87EBEA84-616C-394B-78B7-AF67AF16F1C8}"/>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74BD0FB9-B0C4-D113-92BD-D97FB2FA51DC}"/>
              </a:ext>
            </a:extLst>
          </p:cNvPr>
          <p:cNvSpPr>
            <a:spLocks noGrp="1"/>
          </p:cNvSpPr>
          <p:nvPr>
            <p:ph type="sldNum" sz="quarter" idx="12"/>
          </p:nvPr>
        </p:nvSpPr>
        <p:spPr/>
        <p:txBody>
          <a:bodyPr/>
          <a:lstStyle/>
          <a:p>
            <a:fld id="{66F55CFC-55F0-47F3-A4FC-DFFB2106D52E}" type="slidenum">
              <a:rPr lang="el-GR" smtClean="0"/>
              <a:t>‹#›</a:t>
            </a:fld>
            <a:endParaRPr lang="el-GR"/>
          </a:p>
        </p:txBody>
      </p:sp>
    </p:spTree>
    <p:extLst>
      <p:ext uri="{BB962C8B-B14F-4D97-AF65-F5344CB8AC3E}">
        <p14:creationId xmlns:p14="http://schemas.microsoft.com/office/powerpoint/2010/main" val="3417556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9F5D94F-DEA4-47F4-2F11-5FCB3EF57775}"/>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42FFA98D-A73E-BEFF-0E51-4C0A31FC0F3D}"/>
              </a:ext>
            </a:extLst>
          </p:cNvPr>
          <p:cNvSpPr>
            <a:spLocks noGrp="1"/>
          </p:cNvSpPr>
          <p:nvPr>
            <p:ph idx="1"/>
          </p:nvPr>
        </p:nvSpPr>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EFFA930C-CD18-6A86-7334-56532C12A7F9}"/>
              </a:ext>
            </a:extLst>
          </p:cNvPr>
          <p:cNvSpPr>
            <a:spLocks noGrp="1"/>
          </p:cNvSpPr>
          <p:nvPr>
            <p:ph type="dt" sz="half" idx="10"/>
          </p:nvPr>
        </p:nvSpPr>
        <p:spPr/>
        <p:txBody>
          <a:bodyPr/>
          <a:lstStyle/>
          <a:p>
            <a:fld id="{CD959FEE-4B8E-41F9-85AC-B64551958786}" type="datetimeFigureOut">
              <a:rPr lang="el-GR" smtClean="0"/>
              <a:t>14/6/2025</a:t>
            </a:fld>
            <a:endParaRPr lang="el-GR"/>
          </a:p>
        </p:txBody>
      </p:sp>
      <p:sp>
        <p:nvSpPr>
          <p:cNvPr id="5" name="Θέση υποσέλιδου 4">
            <a:extLst>
              <a:ext uri="{FF2B5EF4-FFF2-40B4-BE49-F238E27FC236}">
                <a16:creationId xmlns:a16="http://schemas.microsoft.com/office/drawing/2014/main" id="{F7AF570F-2FB0-4C11-124E-28AD7897FD87}"/>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0E90F6B1-903F-6448-12E4-9827604AD655}"/>
              </a:ext>
            </a:extLst>
          </p:cNvPr>
          <p:cNvSpPr>
            <a:spLocks noGrp="1"/>
          </p:cNvSpPr>
          <p:nvPr>
            <p:ph type="sldNum" sz="quarter" idx="12"/>
          </p:nvPr>
        </p:nvSpPr>
        <p:spPr/>
        <p:txBody>
          <a:bodyPr/>
          <a:lstStyle/>
          <a:p>
            <a:fld id="{66F55CFC-55F0-47F3-A4FC-DFFB2106D52E}" type="slidenum">
              <a:rPr lang="el-GR" smtClean="0"/>
              <a:t>‹#›</a:t>
            </a:fld>
            <a:endParaRPr lang="el-GR"/>
          </a:p>
        </p:txBody>
      </p:sp>
    </p:spTree>
    <p:extLst>
      <p:ext uri="{BB962C8B-B14F-4D97-AF65-F5344CB8AC3E}">
        <p14:creationId xmlns:p14="http://schemas.microsoft.com/office/powerpoint/2010/main" val="20747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34DADF8-20BE-C899-5724-C8164564C554}"/>
              </a:ext>
            </a:extLst>
          </p:cNvPr>
          <p:cNvSpPr>
            <a:spLocks noGrp="1"/>
          </p:cNvSpPr>
          <p:nvPr>
            <p:ph type="title"/>
          </p:nvPr>
        </p:nvSpPr>
        <p:spPr>
          <a:xfrm>
            <a:off x="831850" y="1709738"/>
            <a:ext cx="10515600" cy="2852737"/>
          </a:xfrm>
        </p:spPr>
        <p:txBody>
          <a:bodyPr anchor="b"/>
          <a:lstStyle>
            <a:lvl1pPr>
              <a:defRPr sz="6000"/>
            </a:lvl1p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C2CE256F-C4A3-6DE0-950B-A3E33FB168A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l-GR"/>
              <a:t>Στυλ κειμένου υποδείγματος</a:t>
            </a:r>
          </a:p>
        </p:txBody>
      </p:sp>
      <p:sp>
        <p:nvSpPr>
          <p:cNvPr id="4" name="Θέση ημερομηνίας 3">
            <a:extLst>
              <a:ext uri="{FF2B5EF4-FFF2-40B4-BE49-F238E27FC236}">
                <a16:creationId xmlns:a16="http://schemas.microsoft.com/office/drawing/2014/main" id="{387E3EFE-09A6-8282-9292-EE2BBE2E9474}"/>
              </a:ext>
            </a:extLst>
          </p:cNvPr>
          <p:cNvSpPr>
            <a:spLocks noGrp="1"/>
          </p:cNvSpPr>
          <p:nvPr>
            <p:ph type="dt" sz="half" idx="10"/>
          </p:nvPr>
        </p:nvSpPr>
        <p:spPr/>
        <p:txBody>
          <a:bodyPr/>
          <a:lstStyle/>
          <a:p>
            <a:fld id="{CD959FEE-4B8E-41F9-85AC-B64551958786}" type="datetimeFigureOut">
              <a:rPr lang="el-GR" smtClean="0"/>
              <a:t>14/6/2025</a:t>
            </a:fld>
            <a:endParaRPr lang="el-GR"/>
          </a:p>
        </p:txBody>
      </p:sp>
      <p:sp>
        <p:nvSpPr>
          <p:cNvPr id="5" name="Θέση υποσέλιδου 4">
            <a:extLst>
              <a:ext uri="{FF2B5EF4-FFF2-40B4-BE49-F238E27FC236}">
                <a16:creationId xmlns:a16="http://schemas.microsoft.com/office/drawing/2014/main" id="{30FD2771-8BA7-1AD5-25AA-49CACA1D1195}"/>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99633741-F81D-0BF4-619E-004B5B592195}"/>
              </a:ext>
            </a:extLst>
          </p:cNvPr>
          <p:cNvSpPr>
            <a:spLocks noGrp="1"/>
          </p:cNvSpPr>
          <p:nvPr>
            <p:ph type="sldNum" sz="quarter" idx="12"/>
          </p:nvPr>
        </p:nvSpPr>
        <p:spPr/>
        <p:txBody>
          <a:bodyPr/>
          <a:lstStyle/>
          <a:p>
            <a:fld id="{66F55CFC-55F0-47F3-A4FC-DFFB2106D52E}" type="slidenum">
              <a:rPr lang="el-GR" smtClean="0"/>
              <a:t>‹#›</a:t>
            </a:fld>
            <a:endParaRPr lang="el-GR"/>
          </a:p>
        </p:txBody>
      </p:sp>
    </p:spTree>
    <p:extLst>
      <p:ext uri="{BB962C8B-B14F-4D97-AF65-F5344CB8AC3E}">
        <p14:creationId xmlns:p14="http://schemas.microsoft.com/office/powerpoint/2010/main" val="149937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99D997B-7B6C-2CFF-7FBD-5EAF5698E5D8}"/>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D041F2B1-1BC1-6F7C-DDDE-D8024B242E7B}"/>
              </a:ext>
            </a:extLst>
          </p:cNvPr>
          <p:cNvSpPr>
            <a:spLocks noGrp="1"/>
          </p:cNvSpPr>
          <p:nvPr>
            <p:ph sz="half" idx="1"/>
          </p:nvPr>
        </p:nvSpPr>
        <p:spPr>
          <a:xfrm>
            <a:off x="838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περιεχομένου 3">
            <a:extLst>
              <a:ext uri="{FF2B5EF4-FFF2-40B4-BE49-F238E27FC236}">
                <a16:creationId xmlns:a16="http://schemas.microsoft.com/office/drawing/2014/main" id="{3919CE47-D44E-8373-9233-498E8C64A8AC}"/>
              </a:ext>
            </a:extLst>
          </p:cNvPr>
          <p:cNvSpPr>
            <a:spLocks noGrp="1"/>
          </p:cNvSpPr>
          <p:nvPr>
            <p:ph sz="half" idx="2"/>
          </p:nvPr>
        </p:nvSpPr>
        <p:spPr>
          <a:xfrm>
            <a:off x="6172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5" name="Θέση ημερομηνίας 4">
            <a:extLst>
              <a:ext uri="{FF2B5EF4-FFF2-40B4-BE49-F238E27FC236}">
                <a16:creationId xmlns:a16="http://schemas.microsoft.com/office/drawing/2014/main" id="{771309D0-7AA2-C8C2-792D-E87E70704C4A}"/>
              </a:ext>
            </a:extLst>
          </p:cNvPr>
          <p:cNvSpPr>
            <a:spLocks noGrp="1"/>
          </p:cNvSpPr>
          <p:nvPr>
            <p:ph type="dt" sz="half" idx="10"/>
          </p:nvPr>
        </p:nvSpPr>
        <p:spPr/>
        <p:txBody>
          <a:bodyPr/>
          <a:lstStyle/>
          <a:p>
            <a:fld id="{CD959FEE-4B8E-41F9-85AC-B64551958786}" type="datetimeFigureOut">
              <a:rPr lang="el-GR" smtClean="0"/>
              <a:t>14/6/2025</a:t>
            </a:fld>
            <a:endParaRPr lang="el-GR"/>
          </a:p>
        </p:txBody>
      </p:sp>
      <p:sp>
        <p:nvSpPr>
          <p:cNvPr id="6" name="Θέση υποσέλιδου 5">
            <a:extLst>
              <a:ext uri="{FF2B5EF4-FFF2-40B4-BE49-F238E27FC236}">
                <a16:creationId xmlns:a16="http://schemas.microsoft.com/office/drawing/2014/main" id="{1C895204-78D5-4E1D-5671-D0469B9687D8}"/>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E0E9DEAC-D408-ECA1-7839-6725404B909D}"/>
              </a:ext>
            </a:extLst>
          </p:cNvPr>
          <p:cNvSpPr>
            <a:spLocks noGrp="1"/>
          </p:cNvSpPr>
          <p:nvPr>
            <p:ph type="sldNum" sz="quarter" idx="12"/>
          </p:nvPr>
        </p:nvSpPr>
        <p:spPr/>
        <p:txBody>
          <a:bodyPr/>
          <a:lstStyle/>
          <a:p>
            <a:fld id="{66F55CFC-55F0-47F3-A4FC-DFFB2106D52E}" type="slidenum">
              <a:rPr lang="el-GR" smtClean="0"/>
              <a:t>‹#›</a:t>
            </a:fld>
            <a:endParaRPr lang="el-GR"/>
          </a:p>
        </p:txBody>
      </p:sp>
    </p:spTree>
    <p:extLst>
      <p:ext uri="{BB962C8B-B14F-4D97-AF65-F5344CB8AC3E}">
        <p14:creationId xmlns:p14="http://schemas.microsoft.com/office/powerpoint/2010/main" val="3578576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C1749B5E-361F-1064-A676-0F1CAAC78226}"/>
              </a:ext>
            </a:extLst>
          </p:cNvPr>
          <p:cNvSpPr>
            <a:spLocks noGrp="1"/>
          </p:cNvSpPr>
          <p:nvPr>
            <p:ph type="title"/>
          </p:nvPr>
        </p:nvSpPr>
        <p:spPr>
          <a:xfrm>
            <a:off x="839788" y="365125"/>
            <a:ext cx="10515600" cy="1325563"/>
          </a:xfrm>
        </p:spPr>
        <p:txBody>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54193040-2E50-D1A7-6B83-90DB595A99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4" name="Θέση περιεχομένου 3">
            <a:extLst>
              <a:ext uri="{FF2B5EF4-FFF2-40B4-BE49-F238E27FC236}">
                <a16:creationId xmlns:a16="http://schemas.microsoft.com/office/drawing/2014/main" id="{3152F610-5E38-731A-DB85-A63E517BF0DF}"/>
              </a:ext>
            </a:extLst>
          </p:cNvPr>
          <p:cNvSpPr>
            <a:spLocks noGrp="1"/>
          </p:cNvSpPr>
          <p:nvPr>
            <p:ph sz="half" idx="2"/>
          </p:nvPr>
        </p:nvSpPr>
        <p:spPr>
          <a:xfrm>
            <a:off x="839788" y="2505075"/>
            <a:ext cx="5157787"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5" name="Θέση κειμένου 4">
            <a:extLst>
              <a:ext uri="{FF2B5EF4-FFF2-40B4-BE49-F238E27FC236}">
                <a16:creationId xmlns:a16="http://schemas.microsoft.com/office/drawing/2014/main" id="{69D420D8-74A8-3A31-F91D-6A56902CD0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6" name="Θέση περιεχομένου 5">
            <a:extLst>
              <a:ext uri="{FF2B5EF4-FFF2-40B4-BE49-F238E27FC236}">
                <a16:creationId xmlns:a16="http://schemas.microsoft.com/office/drawing/2014/main" id="{3833C25B-0929-7CE3-C9AD-E34A770AF076}"/>
              </a:ext>
            </a:extLst>
          </p:cNvPr>
          <p:cNvSpPr>
            <a:spLocks noGrp="1"/>
          </p:cNvSpPr>
          <p:nvPr>
            <p:ph sz="quarter" idx="4"/>
          </p:nvPr>
        </p:nvSpPr>
        <p:spPr>
          <a:xfrm>
            <a:off x="6172200" y="2505075"/>
            <a:ext cx="5183188"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7" name="Θέση ημερομηνίας 6">
            <a:extLst>
              <a:ext uri="{FF2B5EF4-FFF2-40B4-BE49-F238E27FC236}">
                <a16:creationId xmlns:a16="http://schemas.microsoft.com/office/drawing/2014/main" id="{CF86F3D1-D00F-ABEE-0BF2-F37454F0C8D5}"/>
              </a:ext>
            </a:extLst>
          </p:cNvPr>
          <p:cNvSpPr>
            <a:spLocks noGrp="1"/>
          </p:cNvSpPr>
          <p:nvPr>
            <p:ph type="dt" sz="half" idx="10"/>
          </p:nvPr>
        </p:nvSpPr>
        <p:spPr/>
        <p:txBody>
          <a:bodyPr/>
          <a:lstStyle/>
          <a:p>
            <a:fld id="{CD959FEE-4B8E-41F9-85AC-B64551958786}" type="datetimeFigureOut">
              <a:rPr lang="el-GR" smtClean="0"/>
              <a:t>14/6/2025</a:t>
            </a:fld>
            <a:endParaRPr lang="el-GR"/>
          </a:p>
        </p:txBody>
      </p:sp>
      <p:sp>
        <p:nvSpPr>
          <p:cNvPr id="8" name="Θέση υποσέλιδου 7">
            <a:extLst>
              <a:ext uri="{FF2B5EF4-FFF2-40B4-BE49-F238E27FC236}">
                <a16:creationId xmlns:a16="http://schemas.microsoft.com/office/drawing/2014/main" id="{1F36D24B-BAE3-0680-5D6E-E6C13D6133C9}"/>
              </a:ext>
            </a:extLst>
          </p:cNvPr>
          <p:cNvSpPr>
            <a:spLocks noGrp="1"/>
          </p:cNvSpPr>
          <p:nvPr>
            <p:ph type="ftr" sz="quarter" idx="11"/>
          </p:nvPr>
        </p:nvSpPr>
        <p:spPr/>
        <p:txBody>
          <a:bodyPr/>
          <a:lstStyle/>
          <a:p>
            <a:endParaRPr lang="el-GR"/>
          </a:p>
        </p:txBody>
      </p:sp>
      <p:sp>
        <p:nvSpPr>
          <p:cNvPr id="9" name="Θέση αριθμού διαφάνειας 8">
            <a:extLst>
              <a:ext uri="{FF2B5EF4-FFF2-40B4-BE49-F238E27FC236}">
                <a16:creationId xmlns:a16="http://schemas.microsoft.com/office/drawing/2014/main" id="{12185D39-B34F-1AD7-0547-48F7B94C35DA}"/>
              </a:ext>
            </a:extLst>
          </p:cNvPr>
          <p:cNvSpPr>
            <a:spLocks noGrp="1"/>
          </p:cNvSpPr>
          <p:nvPr>
            <p:ph type="sldNum" sz="quarter" idx="12"/>
          </p:nvPr>
        </p:nvSpPr>
        <p:spPr/>
        <p:txBody>
          <a:bodyPr/>
          <a:lstStyle/>
          <a:p>
            <a:fld id="{66F55CFC-55F0-47F3-A4FC-DFFB2106D52E}" type="slidenum">
              <a:rPr lang="el-GR" smtClean="0"/>
              <a:t>‹#›</a:t>
            </a:fld>
            <a:endParaRPr lang="el-GR"/>
          </a:p>
        </p:txBody>
      </p:sp>
    </p:spTree>
    <p:extLst>
      <p:ext uri="{BB962C8B-B14F-4D97-AF65-F5344CB8AC3E}">
        <p14:creationId xmlns:p14="http://schemas.microsoft.com/office/powerpoint/2010/main" val="3494751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7EEF750-440A-D510-1865-A3215F5DAFA6}"/>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ημερομηνίας 2">
            <a:extLst>
              <a:ext uri="{FF2B5EF4-FFF2-40B4-BE49-F238E27FC236}">
                <a16:creationId xmlns:a16="http://schemas.microsoft.com/office/drawing/2014/main" id="{5880069E-CD10-6E39-CACF-8DC757D2EA41}"/>
              </a:ext>
            </a:extLst>
          </p:cNvPr>
          <p:cNvSpPr>
            <a:spLocks noGrp="1"/>
          </p:cNvSpPr>
          <p:nvPr>
            <p:ph type="dt" sz="half" idx="10"/>
          </p:nvPr>
        </p:nvSpPr>
        <p:spPr/>
        <p:txBody>
          <a:bodyPr/>
          <a:lstStyle/>
          <a:p>
            <a:fld id="{CD959FEE-4B8E-41F9-85AC-B64551958786}" type="datetimeFigureOut">
              <a:rPr lang="el-GR" smtClean="0"/>
              <a:t>14/6/2025</a:t>
            </a:fld>
            <a:endParaRPr lang="el-GR"/>
          </a:p>
        </p:txBody>
      </p:sp>
      <p:sp>
        <p:nvSpPr>
          <p:cNvPr id="4" name="Θέση υποσέλιδου 3">
            <a:extLst>
              <a:ext uri="{FF2B5EF4-FFF2-40B4-BE49-F238E27FC236}">
                <a16:creationId xmlns:a16="http://schemas.microsoft.com/office/drawing/2014/main" id="{BA762C07-EE15-9F6C-9154-202761DBBE7F}"/>
              </a:ext>
            </a:extLst>
          </p:cNvPr>
          <p:cNvSpPr>
            <a:spLocks noGrp="1"/>
          </p:cNvSpPr>
          <p:nvPr>
            <p:ph type="ftr" sz="quarter" idx="11"/>
          </p:nvPr>
        </p:nvSpPr>
        <p:spPr/>
        <p:txBody>
          <a:bodyPr/>
          <a:lstStyle/>
          <a:p>
            <a:endParaRPr lang="el-GR"/>
          </a:p>
        </p:txBody>
      </p:sp>
      <p:sp>
        <p:nvSpPr>
          <p:cNvPr id="5" name="Θέση αριθμού διαφάνειας 4">
            <a:extLst>
              <a:ext uri="{FF2B5EF4-FFF2-40B4-BE49-F238E27FC236}">
                <a16:creationId xmlns:a16="http://schemas.microsoft.com/office/drawing/2014/main" id="{39C3F3B7-2E04-E8E2-715A-6015BFC472AD}"/>
              </a:ext>
            </a:extLst>
          </p:cNvPr>
          <p:cNvSpPr>
            <a:spLocks noGrp="1"/>
          </p:cNvSpPr>
          <p:nvPr>
            <p:ph type="sldNum" sz="quarter" idx="12"/>
          </p:nvPr>
        </p:nvSpPr>
        <p:spPr/>
        <p:txBody>
          <a:bodyPr/>
          <a:lstStyle/>
          <a:p>
            <a:fld id="{66F55CFC-55F0-47F3-A4FC-DFFB2106D52E}" type="slidenum">
              <a:rPr lang="el-GR" smtClean="0"/>
              <a:t>‹#›</a:t>
            </a:fld>
            <a:endParaRPr lang="el-GR"/>
          </a:p>
        </p:txBody>
      </p:sp>
    </p:spTree>
    <p:extLst>
      <p:ext uri="{BB962C8B-B14F-4D97-AF65-F5344CB8AC3E}">
        <p14:creationId xmlns:p14="http://schemas.microsoft.com/office/powerpoint/2010/main" val="2354920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a:extLst>
              <a:ext uri="{FF2B5EF4-FFF2-40B4-BE49-F238E27FC236}">
                <a16:creationId xmlns:a16="http://schemas.microsoft.com/office/drawing/2014/main" id="{5B43107C-B6D8-ADF1-8CB8-B742983E851C}"/>
              </a:ext>
            </a:extLst>
          </p:cNvPr>
          <p:cNvSpPr>
            <a:spLocks noGrp="1"/>
          </p:cNvSpPr>
          <p:nvPr>
            <p:ph type="dt" sz="half" idx="10"/>
          </p:nvPr>
        </p:nvSpPr>
        <p:spPr/>
        <p:txBody>
          <a:bodyPr/>
          <a:lstStyle/>
          <a:p>
            <a:fld id="{CD959FEE-4B8E-41F9-85AC-B64551958786}" type="datetimeFigureOut">
              <a:rPr lang="el-GR" smtClean="0"/>
              <a:t>14/6/2025</a:t>
            </a:fld>
            <a:endParaRPr lang="el-GR"/>
          </a:p>
        </p:txBody>
      </p:sp>
      <p:sp>
        <p:nvSpPr>
          <p:cNvPr id="3" name="Θέση υποσέλιδου 2">
            <a:extLst>
              <a:ext uri="{FF2B5EF4-FFF2-40B4-BE49-F238E27FC236}">
                <a16:creationId xmlns:a16="http://schemas.microsoft.com/office/drawing/2014/main" id="{15D61D32-B356-A7FE-AA3C-231465CE96E2}"/>
              </a:ext>
            </a:extLst>
          </p:cNvPr>
          <p:cNvSpPr>
            <a:spLocks noGrp="1"/>
          </p:cNvSpPr>
          <p:nvPr>
            <p:ph type="ftr" sz="quarter" idx="11"/>
          </p:nvPr>
        </p:nvSpPr>
        <p:spPr/>
        <p:txBody>
          <a:bodyPr/>
          <a:lstStyle/>
          <a:p>
            <a:endParaRPr lang="el-GR"/>
          </a:p>
        </p:txBody>
      </p:sp>
      <p:sp>
        <p:nvSpPr>
          <p:cNvPr id="4" name="Θέση αριθμού διαφάνειας 3">
            <a:extLst>
              <a:ext uri="{FF2B5EF4-FFF2-40B4-BE49-F238E27FC236}">
                <a16:creationId xmlns:a16="http://schemas.microsoft.com/office/drawing/2014/main" id="{D9963336-52F9-727F-F2E6-84E28095AF47}"/>
              </a:ext>
            </a:extLst>
          </p:cNvPr>
          <p:cNvSpPr>
            <a:spLocks noGrp="1"/>
          </p:cNvSpPr>
          <p:nvPr>
            <p:ph type="sldNum" sz="quarter" idx="12"/>
          </p:nvPr>
        </p:nvSpPr>
        <p:spPr/>
        <p:txBody>
          <a:bodyPr/>
          <a:lstStyle/>
          <a:p>
            <a:fld id="{66F55CFC-55F0-47F3-A4FC-DFFB2106D52E}" type="slidenum">
              <a:rPr lang="el-GR" smtClean="0"/>
              <a:t>‹#›</a:t>
            </a:fld>
            <a:endParaRPr lang="el-GR"/>
          </a:p>
        </p:txBody>
      </p:sp>
    </p:spTree>
    <p:extLst>
      <p:ext uri="{BB962C8B-B14F-4D97-AF65-F5344CB8AC3E}">
        <p14:creationId xmlns:p14="http://schemas.microsoft.com/office/powerpoint/2010/main" val="2374431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CC9B1FE-888A-514B-E356-4DFEC41D85E3}"/>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4F4468D3-7C1E-8CAA-28FF-F9D21E7CAB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κειμένου 3">
            <a:extLst>
              <a:ext uri="{FF2B5EF4-FFF2-40B4-BE49-F238E27FC236}">
                <a16:creationId xmlns:a16="http://schemas.microsoft.com/office/drawing/2014/main" id="{15A39DFE-B031-5CE9-FED2-85957D43C2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id="{7B4B0239-78FC-366A-C24D-D1DC82411C4F}"/>
              </a:ext>
            </a:extLst>
          </p:cNvPr>
          <p:cNvSpPr>
            <a:spLocks noGrp="1"/>
          </p:cNvSpPr>
          <p:nvPr>
            <p:ph type="dt" sz="half" idx="10"/>
          </p:nvPr>
        </p:nvSpPr>
        <p:spPr/>
        <p:txBody>
          <a:bodyPr/>
          <a:lstStyle/>
          <a:p>
            <a:fld id="{CD959FEE-4B8E-41F9-85AC-B64551958786}" type="datetimeFigureOut">
              <a:rPr lang="el-GR" smtClean="0"/>
              <a:t>14/6/2025</a:t>
            </a:fld>
            <a:endParaRPr lang="el-GR"/>
          </a:p>
        </p:txBody>
      </p:sp>
      <p:sp>
        <p:nvSpPr>
          <p:cNvPr id="6" name="Θέση υποσέλιδου 5">
            <a:extLst>
              <a:ext uri="{FF2B5EF4-FFF2-40B4-BE49-F238E27FC236}">
                <a16:creationId xmlns:a16="http://schemas.microsoft.com/office/drawing/2014/main" id="{2D864A3E-93E7-02FD-BD7B-113C6D88793A}"/>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20A35268-E12A-1902-CD42-445013293D08}"/>
              </a:ext>
            </a:extLst>
          </p:cNvPr>
          <p:cNvSpPr>
            <a:spLocks noGrp="1"/>
          </p:cNvSpPr>
          <p:nvPr>
            <p:ph type="sldNum" sz="quarter" idx="12"/>
          </p:nvPr>
        </p:nvSpPr>
        <p:spPr/>
        <p:txBody>
          <a:bodyPr/>
          <a:lstStyle/>
          <a:p>
            <a:fld id="{66F55CFC-55F0-47F3-A4FC-DFFB2106D52E}" type="slidenum">
              <a:rPr lang="el-GR" smtClean="0"/>
              <a:t>‹#›</a:t>
            </a:fld>
            <a:endParaRPr lang="el-GR"/>
          </a:p>
        </p:txBody>
      </p:sp>
    </p:spTree>
    <p:extLst>
      <p:ext uri="{BB962C8B-B14F-4D97-AF65-F5344CB8AC3E}">
        <p14:creationId xmlns:p14="http://schemas.microsoft.com/office/powerpoint/2010/main" val="62189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39FB0B08-A503-815F-CFB2-A0C03ED6E9EF}"/>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εικόνας 2">
            <a:extLst>
              <a:ext uri="{FF2B5EF4-FFF2-40B4-BE49-F238E27FC236}">
                <a16:creationId xmlns:a16="http://schemas.microsoft.com/office/drawing/2014/main" id="{22B6D53A-9933-CE52-2CFA-A469B2AEF3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a:extLst>
              <a:ext uri="{FF2B5EF4-FFF2-40B4-BE49-F238E27FC236}">
                <a16:creationId xmlns:a16="http://schemas.microsoft.com/office/drawing/2014/main" id="{BCE4B24C-0AE5-16B5-9CEB-2008B1FB3B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id="{08AE4DDD-1343-4C9A-F970-1A5487A6CC08}"/>
              </a:ext>
            </a:extLst>
          </p:cNvPr>
          <p:cNvSpPr>
            <a:spLocks noGrp="1"/>
          </p:cNvSpPr>
          <p:nvPr>
            <p:ph type="dt" sz="half" idx="10"/>
          </p:nvPr>
        </p:nvSpPr>
        <p:spPr/>
        <p:txBody>
          <a:bodyPr/>
          <a:lstStyle/>
          <a:p>
            <a:fld id="{CD959FEE-4B8E-41F9-85AC-B64551958786}" type="datetimeFigureOut">
              <a:rPr lang="el-GR" smtClean="0"/>
              <a:t>14/6/2025</a:t>
            </a:fld>
            <a:endParaRPr lang="el-GR"/>
          </a:p>
        </p:txBody>
      </p:sp>
      <p:sp>
        <p:nvSpPr>
          <p:cNvPr id="6" name="Θέση υποσέλιδου 5">
            <a:extLst>
              <a:ext uri="{FF2B5EF4-FFF2-40B4-BE49-F238E27FC236}">
                <a16:creationId xmlns:a16="http://schemas.microsoft.com/office/drawing/2014/main" id="{2CB0219F-C3A2-3A22-B56D-80FF499E9D56}"/>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1C91992A-DAB7-D746-69FA-67699E26CDCB}"/>
              </a:ext>
            </a:extLst>
          </p:cNvPr>
          <p:cNvSpPr>
            <a:spLocks noGrp="1"/>
          </p:cNvSpPr>
          <p:nvPr>
            <p:ph type="sldNum" sz="quarter" idx="12"/>
          </p:nvPr>
        </p:nvSpPr>
        <p:spPr/>
        <p:txBody>
          <a:bodyPr/>
          <a:lstStyle/>
          <a:p>
            <a:fld id="{66F55CFC-55F0-47F3-A4FC-DFFB2106D52E}" type="slidenum">
              <a:rPr lang="el-GR" smtClean="0"/>
              <a:t>‹#›</a:t>
            </a:fld>
            <a:endParaRPr lang="el-GR"/>
          </a:p>
        </p:txBody>
      </p:sp>
    </p:spTree>
    <p:extLst>
      <p:ext uri="{BB962C8B-B14F-4D97-AF65-F5344CB8AC3E}">
        <p14:creationId xmlns:p14="http://schemas.microsoft.com/office/powerpoint/2010/main" val="32526855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2E254385-BCCB-7DD0-1FAD-88FB50010C11}"/>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A4401C93-8ACD-CCD5-EA53-AC0BC5B70576}"/>
              </a:ext>
            </a:extLst>
          </p:cNvPr>
          <p:cNvSpPr>
            <a:spLocks noGrp="1"/>
          </p:cNvSpPr>
          <p:nvPr>
            <p:ph type="body" orient="vert" idx="1"/>
          </p:nvPr>
        </p:nvSpPr>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BC31618A-562B-BD35-88B0-6E0354F3A0C6}"/>
              </a:ext>
            </a:extLst>
          </p:cNvPr>
          <p:cNvSpPr>
            <a:spLocks noGrp="1"/>
          </p:cNvSpPr>
          <p:nvPr>
            <p:ph type="dt" sz="half" idx="10"/>
          </p:nvPr>
        </p:nvSpPr>
        <p:spPr/>
        <p:txBody>
          <a:bodyPr/>
          <a:lstStyle/>
          <a:p>
            <a:fld id="{CD959FEE-4B8E-41F9-85AC-B64551958786}" type="datetimeFigureOut">
              <a:rPr lang="el-GR" smtClean="0"/>
              <a:t>14/6/2025</a:t>
            </a:fld>
            <a:endParaRPr lang="el-GR"/>
          </a:p>
        </p:txBody>
      </p:sp>
      <p:sp>
        <p:nvSpPr>
          <p:cNvPr id="5" name="Θέση υποσέλιδου 4">
            <a:extLst>
              <a:ext uri="{FF2B5EF4-FFF2-40B4-BE49-F238E27FC236}">
                <a16:creationId xmlns:a16="http://schemas.microsoft.com/office/drawing/2014/main" id="{7F434820-B784-23AC-7B33-1B221480B42C}"/>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23D5D62C-7CB4-14E4-5A6B-010B7FC19E1D}"/>
              </a:ext>
            </a:extLst>
          </p:cNvPr>
          <p:cNvSpPr>
            <a:spLocks noGrp="1"/>
          </p:cNvSpPr>
          <p:nvPr>
            <p:ph type="sldNum" sz="quarter" idx="12"/>
          </p:nvPr>
        </p:nvSpPr>
        <p:spPr/>
        <p:txBody>
          <a:bodyPr/>
          <a:lstStyle/>
          <a:p>
            <a:fld id="{66F55CFC-55F0-47F3-A4FC-DFFB2106D52E}" type="slidenum">
              <a:rPr lang="el-GR" smtClean="0"/>
              <a:t>‹#›</a:t>
            </a:fld>
            <a:endParaRPr lang="el-GR"/>
          </a:p>
        </p:txBody>
      </p:sp>
    </p:spTree>
    <p:extLst>
      <p:ext uri="{BB962C8B-B14F-4D97-AF65-F5344CB8AC3E}">
        <p14:creationId xmlns:p14="http://schemas.microsoft.com/office/powerpoint/2010/main" val="3415795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a:extLst>
              <a:ext uri="{FF2B5EF4-FFF2-40B4-BE49-F238E27FC236}">
                <a16:creationId xmlns:a16="http://schemas.microsoft.com/office/drawing/2014/main" id="{B03CC124-007B-D77C-A0BF-2BC112E28F5C}"/>
              </a:ext>
            </a:extLst>
          </p:cNvPr>
          <p:cNvSpPr>
            <a:spLocks noGrp="1"/>
          </p:cNvSpPr>
          <p:nvPr>
            <p:ph type="title" orient="vert"/>
          </p:nvPr>
        </p:nvSpPr>
        <p:spPr>
          <a:xfrm>
            <a:off x="8724900" y="365125"/>
            <a:ext cx="2628900" cy="5811838"/>
          </a:xfrm>
        </p:spPr>
        <p:txBody>
          <a:bodyPr vert="eaVert"/>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7AE85E6F-A6AE-B406-9403-9270D4ACF10B}"/>
              </a:ext>
            </a:extLst>
          </p:cNvPr>
          <p:cNvSpPr>
            <a:spLocks noGrp="1"/>
          </p:cNvSpPr>
          <p:nvPr>
            <p:ph type="body" orient="vert" idx="1"/>
          </p:nvPr>
        </p:nvSpPr>
        <p:spPr>
          <a:xfrm>
            <a:off x="838200" y="365125"/>
            <a:ext cx="7734300" cy="5811838"/>
          </a:xfrm>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0A7E4F5E-9599-2B1A-DF28-3E5797664C5A}"/>
              </a:ext>
            </a:extLst>
          </p:cNvPr>
          <p:cNvSpPr>
            <a:spLocks noGrp="1"/>
          </p:cNvSpPr>
          <p:nvPr>
            <p:ph type="dt" sz="half" idx="10"/>
          </p:nvPr>
        </p:nvSpPr>
        <p:spPr/>
        <p:txBody>
          <a:bodyPr/>
          <a:lstStyle/>
          <a:p>
            <a:fld id="{CD959FEE-4B8E-41F9-85AC-B64551958786}" type="datetimeFigureOut">
              <a:rPr lang="el-GR" smtClean="0"/>
              <a:t>14/6/2025</a:t>
            </a:fld>
            <a:endParaRPr lang="el-GR"/>
          </a:p>
        </p:txBody>
      </p:sp>
      <p:sp>
        <p:nvSpPr>
          <p:cNvPr id="5" name="Θέση υποσέλιδου 4">
            <a:extLst>
              <a:ext uri="{FF2B5EF4-FFF2-40B4-BE49-F238E27FC236}">
                <a16:creationId xmlns:a16="http://schemas.microsoft.com/office/drawing/2014/main" id="{06A688AA-513B-4650-C70C-9BE69CE86227}"/>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2D123CAC-9F5D-3D6B-4699-9834D87D843D}"/>
              </a:ext>
            </a:extLst>
          </p:cNvPr>
          <p:cNvSpPr>
            <a:spLocks noGrp="1"/>
          </p:cNvSpPr>
          <p:nvPr>
            <p:ph type="sldNum" sz="quarter" idx="12"/>
          </p:nvPr>
        </p:nvSpPr>
        <p:spPr/>
        <p:txBody>
          <a:bodyPr/>
          <a:lstStyle/>
          <a:p>
            <a:fld id="{66F55CFC-55F0-47F3-A4FC-DFFB2106D52E}" type="slidenum">
              <a:rPr lang="el-GR" smtClean="0"/>
              <a:t>‹#›</a:t>
            </a:fld>
            <a:endParaRPr lang="el-GR"/>
          </a:p>
        </p:txBody>
      </p:sp>
    </p:spTree>
    <p:extLst>
      <p:ext uri="{BB962C8B-B14F-4D97-AF65-F5344CB8AC3E}">
        <p14:creationId xmlns:p14="http://schemas.microsoft.com/office/powerpoint/2010/main" val="800309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a:extLst>
              <a:ext uri="{FF2B5EF4-FFF2-40B4-BE49-F238E27FC236}">
                <a16:creationId xmlns:a16="http://schemas.microsoft.com/office/drawing/2014/main" id="{8A607F72-2BCD-8B22-2BE9-6395B424B9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ACC43B80-6B13-4F36-5C95-3DB2BC1E01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A4EE8B91-A1C9-2092-FD17-75FAEBF3F3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D959FEE-4B8E-41F9-85AC-B64551958786}" type="datetimeFigureOut">
              <a:rPr lang="el-GR" smtClean="0"/>
              <a:t>14/6/2025</a:t>
            </a:fld>
            <a:endParaRPr lang="el-GR"/>
          </a:p>
        </p:txBody>
      </p:sp>
      <p:sp>
        <p:nvSpPr>
          <p:cNvPr id="5" name="Θέση υποσέλιδου 4">
            <a:extLst>
              <a:ext uri="{FF2B5EF4-FFF2-40B4-BE49-F238E27FC236}">
                <a16:creationId xmlns:a16="http://schemas.microsoft.com/office/drawing/2014/main" id="{300A6577-DC08-89F9-5E96-96D64C9770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l-GR"/>
          </a:p>
        </p:txBody>
      </p:sp>
      <p:sp>
        <p:nvSpPr>
          <p:cNvPr id="6" name="Θέση αριθμού διαφάνειας 5">
            <a:extLst>
              <a:ext uri="{FF2B5EF4-FFF2-40B4-BE49-F238E27FC236}">
                <a16:creationId xmlns:a16="http://schemas.microsoft.com/office/drawing/2014/main" id="{A788545E-B4C4-10B3-6835-961CA44F5B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F55CFC-55F0-47F3-A4FC-DFFB2106D52E}" type="slidenum">
              <a:rPr lang="el-GR" smtClean="0"/>
              <a:t>‹#›</a:t>
            </a:fld>
            <a:endParaRPr lang="el-GR"/>
          </a:p>
        </p:txBody>
      </p:sp>
    </p:spTree>
    <p:extLst>
      <p:ext uri="{BB962C8B-B14F-4D97-AF65-F5344CB8AC3E}">
        <p14:creationId xmlns:p14="http://schemas.microsoft.com/office/powerpoint/2010/main" val="1736771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C906A35-3C87-A457-2ED8-18B8CDF693AE}"/>
              </a:ext>
            </a:extLst>
          </p:cNvPr>
          <p:cNvSpPr>
            <a:spLocks noGrp="1"/>
          </p:cNvSpPr>
          <p:nvPr>
            <p:ph type="title"/>
          </p:nvPr>
        </p:nvSpPr>
        <p:spPr/>
        <p:txBody>
          <a:bodyPr>
            <a:noAutofit/>
          </a:bodyPr>
          <a:lstStyle/>
          <a:p>
            <a:pPr algn="l"/>
            <a:r>
              <a:rPr lang="en-US" sz="4500" dirty="0"/>
              <a:t>Natural Language Processing</a:t>
            </a:r>
            <a:endParaRPr lang="el-GR" sz="4500" dirty="0"/>
          </a:p>
        </p:txBody>
      </p:sp>
      <p:sp>
        <p:nvSpPr>
          <p:cNvPr id="10" name="Θέση κειμένου 9">
            <a:extLst>
              <a:ext uri="{FF2B5EF4-FFF2-40B4-BE49-F238E27FC236}">
                <a16:creationId xmlns:a16="http://schemas.microsoft.com/office/drawing/2014/main" id="{7655741F-32AB-55D6-6E69-1AC865E0E989}"/>
              </a:ext>
            </a:extLst>
          </p:cNvPr>
          <p:cNvSpPr>
            <a:spLocks noGrp="1"/>
          </p:cNvSpPr>
          <p:nvPr>
            <p:ph type="body" idx="1"/>
          </p:nvPr>
        </p:nvSpPr>
        <p:spPr/>
        <p:txBody>
          <a:bodyPr/>
          <a:lstStyle/>
          <a:p>
            <a:r>
              <a:rPr lang="en-US" dirty="0"/>
              <a:t>Building a model to predict whether a paper cites another paper </a:t>
            </a:r>
            <a:endParaRPr lang="el-GR" dirty="0"/>
          </a:p>
        </p:txBody>
      </p:sp>
    </p:spTree>
    <p:extLst>
      <p:ext uri="{BB962C8B-B14F-4D97-AF65-F5344CB8AC3E}">
        <p14:creationId xmlns:p14="http://schemas.microsoft.com/office/powerpoint/2010/main" val="11772900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Τίτλος 3">
            <a:extLst>
              <a:ext uri="{FF2B5EF4-FFF2-40B4-BE49-F238E27FC236}">
                <a16:creationId xmlns:a16="http://schemas.microsoft.com/office/drawing/2014/main" id="{E3E723D8-E621-3899-590D-6AB176913201}"/>
              </a:ext>
            </a:extLst>
          </p:cNvPr>
          <p:cNvSpPr>
            <a:spLocks noGrp="1"/>
          </p:cNvSpPr>
          <p:nvPr>
            <p:ph type="title"/>
          </p:nvPr>
        </p:nvSpPr>
        <p:spPr/>
        <p:txBody>
          <a:bodyPr/>
          <a:lstStyle/>
          <a:p>
            <a:r>
              <a:rPr lang="en-US" dirty="0"/>
              <a:t>The problem we were tasked to solve</a:t>
            </a:r>
            <a:endParaRPr lang="el-GR" dirty="0"/>
          </a:p>
        </p:txBody>
      </p:sp>
      <p:sp>
        <p:nvSpPr>
          <p:cNvPr id="5" name="Θέση περιεχομένου 4">
            <a:extLst>
              <a:ext uri="{FF2B5EF4-FFF2-40B4-BE49-F238E27FC236}">
                <a16:creationId xmlns:a16="http://schemas.microsoft.com/office/drawing/2014/main" id="{49FCBED7-6227-FB04-37ED-F6B9D9CB3419}"/>
              </a:ext>
            </a:extLst>
          </p:cNvPr>
          <p:cNvSpPr>
            <a:spLocks noGrp="1"/>
          </p:cNvSpPr>
          <p:nvPr>
            <p:ph idx="1"/>
          </p:nvPr>
        </p:nvSpPr>
        <p:spPr/>
        <p:txBody>
          <a:bodyPr>
            <a:normAutofit/>
          </a:bodyPr>
          <a:lstStyle/>
          <a:p>
            <a:pPr marL="0" indent="0">
              <a:buNone/>
            </a:pPr>
            <a:r>
              <a:rPr lang="en-US" dirty="0"/>
              <a:t>We were tasked with a solving a citation prediction problem, where the goal was to predict if a paper cites another.</a:t>
            </a:r>
          </a:p>
          <a:p>
            <a:pPr marL="0" indent="0">
              <a:buNone/>
            </a:pPr>
            <a:endParaRPr lang="en-US" dirty="0"/>
          </a:p>
          <a:p>
            <a:pPr marL="0" indent="0">
              <a:buNone/>
            </a:pPr>
            <a:r>
              <a:rPr lang="en-US" dirty="0"/>
              <a:t>To solve it we used various machine learning methodologies</a:t>
            </a:r>
            <a:r>
              <a:rPr lang="el-GR" dirty="0"/>
              <a:t>.</a:t>
            </a:r>
            <a:endParaRPr lang="en-US" dirty="0"/>
          </a:p>
        </p:txBody>
      </p:sp>
    </p:spTree>
    <p:extLst>
      <p:ext uri="{BB962C8B-B14F-4D97-AF65-F5344CB8AC3E}">
        <p14:creationId xmlns:p14="http://schemas.microsoft.com/office/powerpoint/2010/main" val="181195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Τίτλος 3">
            <a:extLst>
              <a:ext uri="{FF2B5EF4-FFF2-40B4-BE49-F238E27FC236}">
                <a16:creationId xmlns:a16="http://schemas.microsoft.com/office/drawing/2014/main" id="{2DB58775-EBFE-28B0-A714-CB625E775ADE}"/>
              </a:ext>
            </a:extLst>
          </p:cNvPr>
          <p:cNvSpPr>
            <a:spLocks noGrp="1"/>
          </p:cNvSpPr>
          <p:nvPr>
            <p:ph type="title"/>
          </p:nvPr>
        </p:nvSpPr>
        <p:spPr>
          <a:xfrm>
            <a:off x="38894" y="102395"/>
            <a:ext cx="10515600" cy="890587"/>
          </a:xfrm>
        </p:spPr>
        <p:txBody>
          <a:bodyPr>
            <a:normAutofit fontScale="90000"/>
          </a:bodyPr>
          <a:lstStyle/>
          <a:p>
            <a:r>
              <a:rPr lang="en-US" dirty="0"/>
              <a:t>out of cite, out of mind</a:t>
            </a:r>
            <a:endParaRPr lang="el-GR" dirty="0"/>
          </a:p>
        </p:txBody>
      </p:sp>
      <p:sp>
        <p:nvSpPr>
          <p:cNvPr id="5" name="Θέση κειμένου 4">
            <a:extLst>
              <a:ext uri="{FF2B5EF4-FFF2-40B4-BE49-F238E27FC236}">
                <a16:creationId xmlns:a16="http://schemas.microsoft.com/office/drawing/2014/main" id="{6B1621F0-4BD4-08F3-6B09-23A6D5B3ADBF}"/>
              </a:ext>
            </a:extLst>
          </p:cNvPr>
          <p:cNvSpPr>
            <a:spLocks noGrp="1"/>
          </p:cNvSpPr>
          <p:nvPr>
            <p:ph type="body" idx="1"/>
          </p:nvPr>
        </p:nvSpPr>
        <p:spPr>
          <a:xfrm>
            <a:off x="117475" y="992982"/>
            <a:ext cx="10515600" cy="1500187"/>
          </a:xfrm>
        </p:spPr>
        <p:txBody>
          <a:bodyPr/>
          <a:lstStyle/>
          <a:p>
            <a:r>
              <a:rPr lang="en-US" dirty="0"/>
              <a:t>Just as “out of sight, out of mind”, a research paper that isn’t cited is quickly forgotten</a:t>
            </a:r>
          </a:p>
        </p:txBody>
      </p:sp>
      <p:sp>
        <p:nvSpPr>
          <p:cNvPr id="10" name="TextBox 9">
            <a:extLst>
              <a:ext uri="{FF2B5EF4-FFF2-40B4-BE49-F238E27FC236}">
                <a16:creationId xmlns:a16="http://schemas.microsoft.com/office/drawing/2014/main" id="{DA78CB2A-F4B2-4B65-CC46-7A0950423AB0}"/>
              </a:ext>
            </a:extLst>
          </p:cNvPr>
          <p:cNvSpPr txBox="1"/>
          <p:nvPr/>
        </p:nvSpPr>
        <p:spPr>
          <a:xfrm>
            <a:off x="117475" y="5520333"/>
            <a:ext cx="6150769" cy="923330"/>
          </a:xfrm>
          <a:prstGeom prst="rect">
            <a:avLst/>
          </a:prstGeom>
          <a:noFill/>
        </p:spPr>
        <p:txBody>
          <a:bodyPr wrap="square" rtlCol="0">
            <a:spAutoFit/>
          </a:bodyPr>
          <a:lstStyle/>
          <a:p>
            <a:r>
              <a:rPr lang="en-US" dirty="0"/>
              <a:t>Team members:</a:t>
            </a:r>
          </a:p>
          <a:p>
            <a:pPr marL="285750" indent="-285750">
              <a:buFontTx/>
              <a:buChar char="-"/>
            </a:pPr>
            <a:r>
              <a:rPr lang="en-US" dirty="0"/>
              <a:t>Georgios </a:t>
            </a:r>
            <a:r>
              <a:rPr lang="en-US" dirty="0" err="1"/>
              <a:t>Vletsas</a:t>
            </a:r>
            <a:r>
              <a:rPr lang="en-US" dirty="0"/>
              <a:t> 4924</a:t>
            </a:r>
          </a:p>
          <a:p>
            <a:pPr marL="285750" indent="-285750">
              <a:buFontTx/>
              <a:buChar char="-"/>
            </a:pPr>
            <a:r>
              <a:rPr lang="en-US" dirty="0"/>
              <a:t>Stefanos Gersch-Koutsogiannis 5046</a:t>
            </a:r>
            <a:endParaRPr lang="el-GR" dirty="0"/>
          </a:p>
        </p:txBody>
      </p:sp>
      <p:sp>
        <p:nvSpPr>
          <p:cNvPr id="2" name="TextBox 1">
            <a:extLst>
              <a:ext uri="{FF2B5EF4-FFF2-40B4-BE49-F238E27FC236}">
                <a16:creationId xmlns:a16="http://schemas.microsoft.com/office/drawing/2014/main" id="{29680CD3-3B9B-8098-D471-8E8F7BB110FD}"/>
              </a:ext>
            </a:extLst>
          </p:cNvPr>
          <p:cNvSpPr txBox="1"/>
          <p:nvPr/>
        </p:nvSpPr>
        <p:spPr>
          <a:xfrm>
            <a:off x="117475" y="2413337"/>
            <a:ext cx="11358562" cy="1015663"/>
          </a:xfrm>
          <a:prstGeom prst="rect">
            <a:avLst/>
          </a:prstGeom>
          <a:noFill/>
        </p:spPr>
        <p:txBody>
          <a:bodyPr wrap="square" rtlCol="0">
            <a:spAutoFit/>
          </a:bodyPr>
          <a:lstStyle/>
          <a:p>
            <a:r>
              <a:rPr lang="en-US" sz="3000" dirty="0"/>
              <a:t>Our best model, achieves a negative log score of 0.10160, which ranks our model 4</a:t>
            </a:r>
            <a:r>
              <a:rPr lang="en-US" sz="3000" baseline="30000" dirty="0"/>
              <a:t>th</a:t>
            </a:r>
            <a:r>
              <a:rPr lang="en-US" sz="3000" dirty="0"/>
              <a:t> overall in the competition.</a:t>
            </a:r>
            <a:endParaRPr lang="el-GR" sz="3000" dirty="0"/>
          </a:p>
        </p:txBody>
      </p:sp>
    </p:spTree>
    <p:extLst>
      <p:ext uri="{BB962C8B-B14F-4D97-AF65-F5344CB8AC3E}">
        <p14:creationId xmlns:p14="http://schemas.microsoft.com/office/powerpoint/2010/main" val="1169279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Τίτλος 3">
            <a:extLst>
              <a:ext uri="{FF2B5EF4-FFF2-40B4-BE49-F238E27FC236}">
                <a16:creationId xmlns:a16="http://schemas.microsoft.com/office/drawing/2014/main" id="{23031918-C435-3D6B-0B40-E84CE88D25D8}"/>
              </a:ext>
            </a:extLst>
          </p:cNvPr>
          <p:cNvSpPr>
            <a:spLocks noGrp="1"/>
          </p:cNvSpPr>
          <p:nvPr>
            <p:ph type="title"/>
          </p:nvPr>
        </p:nvSpPr>
        <p:spPr>
          <a:xfrm>
            <a:off x="890258" y="365125"/>
            <a:ext cx="10411485" cy="1325563"/>
          </a:xfrm>
        </p:spPr>
        <p:txBody>
          <a:bodyPr/>
          <a:lstStyle/>
          <a:p>
            <a:r>
              <a:rPr lang="en-US" dirty="0"/>
              <a:t>Dataset for the model creation</a:t>
            </a:r>
            <a:endParaRPr lang="el-GR" dirty="0"/>
          </a:p>
        </p:txBody>
      </p:sp>
      <p:sp>
        <p:nvSpPr>
          <p:cNvPr id="5" name="Θέση περιεχομένου 4">
            <a:extLst>
              <a:ext uri="{FF2B5EF4-FFF2-40B4-BE49-F238E27FC236}">
                <a16:creationId xmlns:a16="http://schemas.microsoft.com/office/drawing/2014/main" id="{02290F0E-9ED9-D9B6-B366-FAC8B9F67C1D}"/>
              </a:ext>
            </a:extLst>
          </p:cNvPr>
          <p:cNvSpPr>
            <a:spLocks noGrp="1"/>
          </p:cNvSpPr>
          <p:nvPr>
            <p:ph idx="1"/>
          </p:nvPr>
        </p:nvSpPr>
        <p:spPr/>
        <p:txBody>
          <a:bodyPr>
            <a:normAutofit lnSpcReduction="10000"/>
          </a:bodyPr>
          <a:lstStyle/>
          <a:p>
            <a:pPr marL="0" indent="0">
              <a:buNone/>
            </a:pPr>
            <a:r>
              <a:rPr lang="en-US" dirty="0"/>
              <a:t>The dataset was given by our professor Konstantinos </a:t>
            </a:r>
            <a:r>
              <a:rPr lang="en-US" dirty="0" err="1"/>
              <a:t>Skianis</a:t>
            </a:r>
            <a:r>
              <a:rPr lang="en-US" dirty="0"/>
              <a:t>, and it contains the following files:</a:t>
            </a:r>
          </a:p>
          <a:p>
            <a:pPr>
              <a:buFontTx/>
              <a:buChar char="-"/>
            </a:pPr>
            <a:r>
              <a:rPr lang="en-US" dirty="0"/>
              <a:t>abstract.txt, a file containing the id and abstract of a research paper</a:t>
            </a:r>
          </a:p>
          <a:p>
            <a:pPr>
              <a:buFontTx/>
              <a:buChar char="-"/>
            </a:pPr>
            <a:r>
              <a:rPr lang="en-US" dirty="0"/>
              <a:t>authors.txt, containing the id and authors of a research paper</a:t>
            </a:r>
          </a:p>
          <a:p>
            <a:pPr>
              <a:buFontTx/>
              <a:buChar char="-"/>
            </a:pPr>
            <a:r>
              <a:rPr lang="en-US" dirty="0"/>
              <a:t>edgelist.txt(or csv), containing pairs of ids where the first cites the second</a:t>
            </a:r>
          </a:p>
          <a:p>
            <a:pPr>
              <a:buFontTx/>
              <a:buChar char="-"/>
            </a:pPr>
            <a:r>
              <a:rPr lang="en-US" dirty="0"/>
              <a:t>test.txt, containing the test data in the form of source id, target id to make predictions and upload our results to the Kaggle competition</a:t>
            </a:r>
          </a:p>
          <a:p>
            <a:pPr marL="0" indent="0">
              <a:buNone/>
            </a:pPr>
            <a:endParaRPr lang="en-US" dirty="0"/>
          </a:p>
        </p:txBody>
      </p:sp>
    </p:spTree>
    <p:extLst>
      <p:ext uri="{BB962C8B-B14F-4D97-AF65-F5344CB8AC3E}">
        <p14:creationId xmlns:p14="http://schemas.microsoft.com/office/powerpoint/2010/main" val="3910782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Τίτλος 3">
            <a:extLst>
              <a:ext uri="{FF2B5EF4-FFF2-40B4-BE49-F238E27FC236}">
                <a16:creationId xmlns:a16="http://schemas.microsoft.com/office/drawing/2014/main" id="{7F756303-8A5F-6FE7-28F4-BE55B2B39499}"/>
              </a:ext>
            </a:extLst>
          </p:cNvPr>
          <p:cNvSpPr>
            <a:spLocks noGrp="1"/>
          </p:cNvSpPr>
          <p:nvPr>
            <p:ph type="title"/>
          </p:nvPr>
        </p:nvSpPr>
        <p:spPr/>
        <p:txBody>
          <a:bodyPr/>
          <a:lstStyle/>
          <a:p>
            <a:r>
              <a:rPr lang="en-US" dirty="0"/>
              <a:t>Goals of this challenge</a:t>
            </a:r>
            <a:endParaRPr lang="el-GR" dirty="0"/>
          </a:p>
        </p:txBody>
      </p:sp>
      <p:sp>
        <p:nvSpPr>
          <p:cNvPr id="5" name="Θέση περιεχομένου 4">
            <a:extLst>
              <a:ext uri="{FF2B5EF4-FFF2-40B4-BE49-F238E27FC236}">
                <a16:creationId xmlns:a16="http://schemas.microsoft.com/office/drawing/2014/main" id="{0B46F38C-D131-75F9-650A-8F53BC6EC5AB}"/>
              </a:ext>
            </a:extLst>
          </p:cNvPr>
          <p:cNvSpPr>
            <a:spLocks noGrp="1"/>
          </p:cNvSpPr>
          <p:nvPr>
            <p:ph idx="1"/>
          </p:nvPr>
        </p:nvSpPr>
        <p:spPr/>
        <p:txBody>
          <a:bodyPr/>
          <a:lstStyle/>
          <a:p>
            <a:pPr marL="0" indent="0">
              <a:buNone/>
            </a:pPr>
            <a:r>
              <a:rPr lang="en-US" dirty="0"/>
              <a:t>During the challenge, we experimented with different methodologies and tools, including:</a:t>
            </a:r>
          </a:p>
          <a:p>
            <a:pPr marL="0" indent="0">
              <a:buNone/>
            </a:pPr>
            <a:endParaRPr lang="en-US" dirty="0"/>
          </a:p>
          <a:p>
            <a:pPr marL="0" indent="0">
              <a:buNone/>
            </a:pPr>
            <a:r>
              <a:rPr lang="en-US" dirty="0"/>
              <a:t>- Pretrained Transformer models like BERT and </a:t>
            </a:r>
            <a:r>
              <a:rPr lang="en-US" dirty="0" err="1"/>
              <a:t>scibert</a:t>
            </a:r>
            <a:endParaRPr lang="en-US" dirty="0"/>
          </a:p>
          <a:p>
            <a:pPr>
              <a:buFontTx/>
              <a:buChar char="-"/>
            </a:pPr>
            <a:r>
              <a:rPr lang="en-US" dirty="0"/>
              <a:t>Cross validation for hyperparameter tuning using grid search</a:t>
            </a:r>
          </a:p>
          <a:p>
            <a:pPr>
              <a:buFontTx/>
              <a:buChar char="-"/>
            </a:pPr>
            <a:r>
              <a:rPr lang="en-US" dirty="0"/>
              <a:t>Classical embedding models like Word2vec, Node2vec, Doc2vec and </a:t>
            </a:r>
            <a:r>
              <a:rPr lang="en-US" dirty="0" err="1"/>
              <a:t>tf-idf</a:t>
            </a:r>
            <a:r>
              <a:rPr lang="en-US" dirty="0"/>
              <a:t> tokenizer</a:t>
            </a:r>
          </a:p>
          <a:p>
            <a:pPr>
              <a:buFontTx/>
              <a:buChar char="-"/>
            </a:pPr>
            <a:r>
              <a:rPr lang="en-US" dirty="0"/>
              <a:t>Feature engineering for creation of rich features</a:t>
            </a:r>
          </a:p>
          <a:p>
            <a:pPr marL="0" indent="0">
              <a:buNone/>
            </a:pPr>
            <a:endParaRPr lang="en-US" dirty="0"/>
          </a:p>
          <a:p>
            <a:pPr marL="0" indent="0">
              <a:buNone/>
            </a:pPr>
            <a:endParaRPr lang="el-GR" dirty="0"/>
          </a:p>
        </p:txBody>
      </p:sp>
    </p:spTree>
    <p:extLst>
      <p:ext uri="{BB962C8B-B14F-4D97-AF65-F5344CB8AC3E}">
        <p14:creationId xmlns:p14="http://schemas.microsoft.com/office/powerpoint/2010/main" val="3159702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35C3AD0-44F1-BB02-6270-84E8B1240F7A}"/>
              </a:ext>
            </a:extLst>
          </p:cNvPr>
          <p:cNvSpPr>
            <a:spLocks noGrp="1"/>
          </p:cNvSpPr>
          <p:nvPr>
            <p:ph type="title"/>
          </p:nvPr>
        </p:nvSpPr>
        <p:spPr/>
        <p:txBody>
          <a:bodyPr/>
          <a:lstStyle/>
          <a:p>
            <a:r>
              <a:rPr lang="en-US" dirty="0"/>
              <a:t>Preprocessing of the </a:t>
            </a:r>
            <a:r>
              <a:rPr lang="en-US" dirty="0" err="1"/>
              <a:t>edgelist</a:t>
            </a:r>
            <a:r>
              <a:rPr lang="en-US" dirty="0"/>
              <a:t> and creation of negative examples</a:t>
            </a:r>
            <a:endParaRPr lang="el-GR" dirty="0"/>
          </a:p>
        </p:txBody>
      </p:sp>
      <p:sp>
        <p:nvSpPr>
          <p:cNvPr id="3" name="Θέση περιεχομένου 2">
            <a:extLst>
              <a:ext uri="{FF2B5EF4-FFF2-40B4-BE49-F238E27FC236}">
                <a16:creationId xmlns:a16="http://schemas.microsoft.com/office/drawing/2014/main" id="{94A97EB3-2E86-6FF0-0794-371D03ACE224}"/>
              </a:ext>
            </a:extLst>
          </p:cNvPr>
          <p:cNvSpPr>
            <a:spLocks noGrp="1"/>
          </p:cNvSpPr>
          <p:nvPr>
            <p:ph idx="1"/>
          </p:nvPr>
        </p:nvSpPr>
        <p:spPr/>
        <p:txBody>
          <a:bodyPr>
            <a:normAutofit fontScale="92500"/>
          </a:bodyPr>
          <a:lstStyle/>
          <a:p>
            <a:pPr marL="0" indent="0">
              <a:buNone/>
            </a:pPr>
            <a:r>
              <a:rPr lang="en-US" dirty="0"/>
              <a:t>The file edgelist.txt contains existing edges. In order to train a classifier, we created the same amount of negative examples (non-edges) as the original edges and made sure they do not exist in the original edges.</a:t>
            </a:r>
          </a:p>
          <a:p>
            <a:pPr marL="0" indent="0">
              <a:buNone/>
            </a:pPr>
            <a:endParaRPr lang="en-US" dirty="0"/>
          </a:p>
          <a:p>
            <a:pPr marL="0" indent="0">
              <a:buNone/>
            </a:pPr>
            <a:r>
              <a:rPr lang="en-US" dirty="0"/>
              <a:t>We stored the results in a file named train.txt to use later for the training of our model.</a:t>
            </a:r>
          </a:p>
          <a:p>
            <a:pPr marL="0" indent="0">
              <a:buNone/>
            </a:pPr>
            <a:endParaRPr lang="en-US" dirty="0"/>
          </a:p>
          <a:p>
            <a:pPr marL="0" indent="0">
              <a:buNone/>
            </a:pPr>
            <a:r>
              <a:rPr lang="en-US" dirty="0"/>
              <a:t>It is important to note, that in order to avoid overfitting our model, we dropped examples of edges that exist both in our test data and in our train data, but we made sure that we keep the nodes in our graph.</a:t>
            </a:r>
            <a:endParaRPr lang="el-GR" dirty="0"/>
          </a:p>
        </p:txBody>
      </p:sp>
    </p:spTree>
    <p:extLst>
      <p:ext uri="{BB962C8B-B14F-4D97-AF65-F5344CB8AC3E}">
        <p14:creationId xmlns:p14="http://schemas.microsoft.com/office/powerpoint/2010/main" val="1033249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3B7D5D2-B041-09FE-3128-3922CF1A1AF2}"/>
              </a:ext>
            </a:extLst>
          </p:cNvPr>
          <p:cNvSpPr>
            <a:spLocks noGrp="1"/>
          </p:cNvSpPr>
          <p:nvPr>
            <p:ph type="title"/>
          </p:nvPr>
        </p:nvSpPr>
        <p:spPr/>
        <p:txBody>
          <a:bodyPr/>
          <a:lstStyle/>
          <a:p>
            <a:r>
              <a:rPr lang="en-US" dirty="0"/>
              <a:t>Features extracted from our graph</a:t>
            </a:r>
            <a:endParaRPr lang="el-GR" dirty="0"/>
          </a:p>
        </p:txBody>
      </p:sp>
      <p:sp>
        <p:nvSpPr>
          <p:cNvPr id="3" name="Θέση περιεχομένου 2">
            <a:extLst>
              <a:ext uri="{FF2B5EF4-FFF2-40B4-BE49-F238E27FC236}">
                <a16:creationId xmlns:a16="http://schemas.microsoft.com/office/drawing/2014/main" id="{06CD9D37-FF11-0139-F59E-3CE826173283}"/>
              </a:ext>
            </a:extLst>
          </p:cNvPr>
          <p:cNvSpPr>
            <a:spLocks noGrp="1"/>
          </p:cNvSpPr>
          <p:nvPr>
            <p:ph idx="1"/>
          </p:nvPr>
        </p:nvSpPr>
        <p:spPr>
          <a:xfrm>
            <a:off x="838200" y="1604169"/>
            <a:ext cx="10515600" cy="4351338"/>
          </a:xfrm>
        </p:spPr>
        <p:txBody>
          <a:bodyPr>
            <a:normAutofit fontScale="77500" lnSpcReduction="20000"/>
          </a:bodyPr>
          <a:lstStyle/>
          <a:p>
            <a:pPr marL="0" indent="0">
              <a:buNone/>
            </a:pPr>
            <a:r>
              <a:rPr lang="en-US" dirty="0"/>
              <a:t>From the graph, we created embeddings using Node2Vec and then we passed these embeddings into a graph convolutional neural network, to reconstruct them. This works as a self-supervised network and produces new graph embeddings.</a:t>
            </a:r>
          </a:p>
          <a:p>
            <a:pPr marL="0" indent="0">
              <a:buNone/>
            </a:pPr>
            <a:endParaRPr lang="en-US" dirty="0"/>
          </a:p>
          <a:p>
            <a:pPr marL="0" indent="0">
              <a:buNone/>
            </a:pPr>
            <a:r>
              <a:rPr lang="en-US" dirty="0"/>
              <a:t>Then using these embeddings, we produce the following features:</a:t>
            </a:r>
          </a:p>
          <a:p>
            <a:pPr>
              <a:buFontTx/>
              <a:buChar char="-"/>
            </a:pPr>
            <a:r>
              <a:rPr lang="en-US" dirty="0"/>
              <a:t>Cosine similarity for two embeddings produced from the GCNN</a:t>
            </a:r>
          </a:p>
          <a:p>
            <a:pPr marL="0" indent="0">
              <a:buNone/>
            </a:pPr>
            <a:endParaRPr lang="en-US" dirty="0"/>
          </a:p>
          <a:p>
            <a:pPr marL="0" indent="0">
              <a:buNone/>
            </a:pPr>
            <a:r>
              <a:rPr lang="en-US" dirty="0"/>
              <a:t>Other features we used were to extract information about the graph were:</a:t>
            </a:r>
          </a:p>
          <a:p>
            <a:pPr>
              <a:buFontTx/>
              <a:buChar char="-"/>
            </a:pPr>
            <a:r>
              <a:rPr lang="en-US" dirty="0"/>
              <a:t>Jaccard similarity</a:t>
            </a:r>
          </a:p>
          <a:p>
            <a:pPr>
              <a:buFontTx/>
              <a:buChar char="-"/>
            </a:pPr>
            <a:r>
              <a:rPr lang="en-US" dirty="0"/>
              <a:t>Adamic-Adar</a:t>
            </a:r>
          </a:p>
          <a:p>
            <a:pPr>
              <a:buFontTx/>
              <a:buChar char="-"/>
            </a:pPr>
            <a:r>
              <a:rPr lang="en-US" dirty="0"/>
              <a:t>Common neighbors</a:t>
            </a:r>
          </a:p>
          <a:p>
            <a:pPr>
              <a:buFontTx/>
              <a:buChar char="-"/>
            </a:pPr>
            <a:r>
              <a:rPr lang="en-US" dirty="0"/>
              <a:t>Preferential attachment</a:t>
            </a:r>
          </a:p>
          <a:p>
            <a:pPr marL="0" indent="0">
              <a:buNone/>
            </a:pPr>
            <a:endParaRPr lang="el-GR" dirty="0"/>
          </a:p>
        </p:txBody>
      </p:sp>
    </p:spTree>
    <p:extLst>
      <p:ext uri="{BB962C8B-B14F-4D97-AF65-F5344CB8AC3E}">
        <p14:creationId xmlns:p14="http://schemas.microsoft.com/office/powerpoint/2010/main" val="2237611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35E045A4-A781-60D7-3E89-BF6A8068DA07}"/>
              </a:ext>
            </a:extLst>
          </p:cNvPr>
          <p:cNvSpPr>
            <a:spLocks noGrp="1"/>
          </p:cNvSpPr>
          <p:nvPr>
            <p:ph type="title"/>
          </p:nvPr>
        </p:nvSpPr>
        <p:spPr/>
        <p:txBody>
          <a:bodyPr/>
          <a:lstStyle/>
          <a:p>
            <a:r>
              <a:rPr lang="en-US" dirty="0"/>
              <a:t>Features extracted from the abstracts</a:t>
            </a:r>
            <a:endParaRPr lang="el-GR" dirty="0"/>
          </a:p>
        </p:txBody>
      </p:sp>
      <p:sp>
        <p:nvSpPr>
          <p:cNvPr id="3" name="Θέση περιεχομένου 2">
            <a:extLst>
              <a:ext uri="{FF2B5EF4-FFF2-40B4-BE49-F238E27FC236}">
                <a16:creationId xmlns:a16="http://schemas.microsoft.com/office/drawing/2014/main" id="{983CDFDB-E76D-BF11-8E11-15EFA7F2D715}"/>
              </a:ext>
            </a:extLst>
          </p:cNvPr>
          <p:cNvSpPr>
            <a:spLocks noGrp="1"/>
          </p:cNvSpPr>
          <p:nvPr>
            <p:ph idx="1"/>
          </p:nvPr>
        </p:nvSpPr>
        <p:spPr/>
        <p:txBody>
          <a:bodyPr>
            <a:normAutofit fontScale="92500" lnSpcReduction="20000"/>
          </a:bodyPr>
          <a:lstStyle/>
          <a:p>
            <a:pPr marL="0" indent="0">
              <a:buNone/>
            </a:pPr>
            <a:r>
              <a:rPr lang="en-US" dirty="0"/>
              <a:t>To extract features from our abstract, we created embedding using:</a:t>
            </a:r>
          </a:p>
          <a:p>
            <a:pPr marL="0" indent="0">
              <a:buNone/>
            </a:pPr>
            <a:endParaRPr lang="en-US" dirty="0"/>
          </a:p>
          <a:p>
            <a:pPr>
              <a:buFontTx/>
              <a:buChar char="-"/>
            </a:pPr>
            <a:r>
              <a:rPr lang="en-US" dirty="0" err="1"/>
              <a:t>Tf-Idf</a:t>
            </a:r>
            <a:r>
              <a:rPr lang="en-US" dirty="0"/>
              <a:t> Vectorizer</a:t>
            </a:r>
          </a:p>
          <a:p>
            <a:pPr>
              <a:buFontTx/>
              <a:buChar char="-"/>
            </a:pPr>
            <a:r>
              <a:rPr lang="en-US" dirty="0"/>
              <a:t>Word2Vec</a:t>
            </a:r>
          </a:p>
          <a:p>
            <a:pPr>
              <a:buFontTx/>
              <a:buChar char="-"/>
            </a:pPr>
            <a:r>
              <a:rPr lang="en-US" dirty="0"/>
              <a:t>SBERT(all-MiniLM-L6-v2)</a:t>
            </a:r>
          </a:p>
          <a:p>
            <a:pPr>
              <a:buFontTx/>
              <a:buChar char="-"/>
            </a:pPr>
            <a:r>
              <a:rPr lang="en-US" dirty="0" err="1"/>
              <a:t>SciBERT</a:t>
            </a:r>
            <a:endParaRPr lang="en-US" dirty="0"/>
          </a:p>
          <a:p>
            <a:pPr>
              <a:buFontTx/>
              <a:buChar char="-"/>
            </a:pPr>
            <a:r>
              <a:rPr lang="en-US" dirty="0"/>
              <a:t>MPNET</a:t>
            </a:r>
          </a:p>
          <a:p>
            <a:pPr>
              <a:buFontTx/>
              <a:buChar char="-"/>
            </a:pPr>
            <a:endParaRPr lang="en-US" dirty="0"/>
          </a:p>
          <a:p>
            <a:pPr marL="0" indent="0">
              <a:buNone/>
            </a:pPr>
            <a:r>
              <a:rPr lang="en-US" dirty="0"/>
              <a:t>Then, we pass as features the cosine similarity of embeddings created by the same model. We also saw that the more features we add to our model, the better it performs.</a:t>
            </a:r>
            <a:endParaRPr lang="el-GR" dirty="0"/>
          </a:p>
        </p:txBody>
      </p:sp>
    </p:spTree>
    <p:extLst>
      <p:ext uri="{BB962C8B-B14F-4D97-AF65-F5344CB8AC3E}">
        <p14:creationId xmlns:p14="http://schemas.microsoft.com/office/powerpoint/2010/main" val="184039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855285A-9220-D738-A801-A128DB4B0981}"/>
              </a:ext>
            </a:extLst>
          </p:cNvPr>
          <p:cNvSpPr>
            <a:spLocks noGrp="1"/>
          </p:cNvSpPr>
          <p:nvPr>
            <p:ph type="title"/>
          </p:nvPr>
        </p:nvSpPr>
        <p:spPr/>
        <p:txBody>
          <a:bodyPr/>
          <a:lstStyle/>
          <a:p>
            <a:r>
              <a:rPr lang="en-US" dirty="0"/>
              <a:t>Features extracted from authors</a:t>
            </a:r>
            <a:endParaRPr lang="el-GR" dirty="0"/>
          </a:p>
        </p:txBody>
      </p:sp>
      <p:sp>
        <p:nvSpPr>
          <p:cNvPr id="3" name="Θέση περιεχομένου 2">
            <a:extLst>
              <a:ext uri="{FF2B5EF4-FFF2-40B4-BE49-F238E27FC236}">
                <a16:creationId xmlns:a16="http://schemas.microsoft.com/office/drawing/2014/main" id="{9EF10E06-5CCA-24F2-2428-837BF8EFD393}"/>
              </a:ext>
            </a:extLst>
          </p:cNvPr>
          <p:cNvSpPr>
            <a:spLocks noGrp="1"/>
          </p:cNvSpPr>
          <p:nvPr>
            <p:ph idx="1"/>
          </p:nvPr>
        </p:nvSpPr>
        <p:spPr/>
        <p:txBody>
          <a:bodyPr>
            <a:normAutofit/>
          </a:bodyPr>
          <a:lstStyle/>
          <a:p>
            <a:pPr marL="0" indent="0">
              <a:buNone/>
            </a:pPr>
            <a:r>
              <a:rPr lang="en-US" dirty="0"/>
              <a:t>To get features from the authors, we created embedding using:</a:t>
            </a:r>
            <a:endParaRPr lang="el-GR" dirty="0"/>
          </a:p>
          <a:p>
            <a:pPr marL="0" indent="0">
              <a:buNone/>
            </a:pPr>
            <a:endParaRPr lang="el-GR" dirty="0"/>
          </a:p>
          <a:p>
            <a:pPr>
              <a:buFontTx/>
              <a:buChar char="-"/>
            </a:pPr>
            <a:r>
              <a:rPr lang="en-US" sz="2200" dirty="0"/>
              <a:t>We built a graph where each node is an author.</a:t>
            </a:r>
            <a:endParaRPr lang="el-GR" sz="2200" dirty="0"/>
          </a:p>
          <a:p>
            <a:pPr>
              <a:buFontTx/>
              <a:buChar char="-"/>
            </a:pPr>
            <a:r>
              <a:rPr lang="en-US" sz="2200" dirty="0"/>
              <a:t>An edge connects authors who wrote a paper together.</a:t>
            </a:r>
            <a:endParaRPr lang="el-GR" sz="2200" dirty="0"/>
          </a:p>
          <a:p>
            <a:pPr>
              <a:buFontTx/>
              <a:buChar char="-"/>
            </a:pPr>
            <a:r>
              <a:rPr lang="en-US" sz="2200" dirty="0"/>
              <a:t>We used </a:t>
            </a:r>
            <a:r>
              <a:rPr lang="en-US" sz="2200" b="1" dirty="0"/>
              <a:t>Node2Vec</a:t>
            </a:r>
            <a:r>
              <a:rPr lang="en-US" sz="2200" dirty="0"/>
              <a:t> to create embeddings for each author.</a:t>
            </a:r>
            <a:endParaRPr lang="el-GR" sz="2200" dirty="0"/>
          </a:p>
          <a:p>
            <a:pPr>
              <a:buFontTx/>
              <a:buChar char="-"/>
            </a:pPr>
            <a:r>
              <a:rPr lang="en-US" sz="2200" dirty="0"/>
              <a:t>For each paper, we averaged the embeddings of its authors.</a:t>
            </a:r>
            <a:endParaRPr lang="el-GR" sz="2200" dirty="0"/>
          </a:p>
          <a:p>
            <a:pPr>
              <a:buFontTx/>
              <a:buChar char="-"/>
            </a:pPr>
            <a:r>
              <a:rPr lang="en-US" sz="2200" dirty="0"/>
              <a:t>We used </a:t>
            </a:r>
            <a:r>
              <a:rPr lang="en-US" sz="2200" b="1" dirty="0"/>
              <a:t>cosine similarity</a:t>
            </a:r>
            <a:r>
              <a:rPr lang="en-US" sz="2200" dirty="0"/>
              <a:t> between two paper vectors</a:t>
            </a:r>
            <a:br>
              <a:rPr lang="en-US" sz="2200" dirty="0"/>
            </a:br>
            <a:r>
              <a:rPr lang="en-US" sz="2200" dirty="0"/>
              <a:t>as an author-based feature.</a:t>
            </a:r>
            <a:endParaRPr lang="el-GR" sz="2200" dirty="0"/>
          </a:p>
        </p:txBody>
      </p:sp>
    </p:spTree>
    <p:extLst>
      <p:ext uri="{BB962C8B-B14F-4D97-AF65-F5344CB8AC3E}">
        <p14:creationId xmlns:p14="http://schemas.microsoft.com/office/powerpoint/2010/main" val="33173062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036A902-210F-B4E0-55FA-B53C2E977594}"/>
              </a:ext>
            </a:extLst>
          </p:cNvPr>
          <p:cNvSpPr>
            <a:spLocks noGrp="1"/>
          </p:cNvSpPr>
          <p:nvPr>
            <p:ph type="title"/>
          </p:nvPr>
        </p:nvSpPr>
        <p:spPr/>
        <p:txBody>
          <a:bodyPr/>
          <a:lstStyle/>
          <a:p>
            <a:r>
              <a:rPr lang="en-US" dirty="0"/>
              <a:t>Models used for the prediction task</a:t>
            </a:r>
            <a:endParaRPr lang="el-GR" dirty="0"/>
          </a:p>
        </p:txBody>
      </p:sp>
      <p:sp>
        <p:nvSpPr>
          <p:cNvPr id="3" name="Θέση περιεχομένου 2">
            <a:extLst>
              <a:ext uri="{FF2B5EF4-FFF2-40B4-BE49-F238E27FC236}">
                <a16:creationId xmlns:a16="http://schemas.microsoft.com/office/drawing/2014/main" id="{8B3A4008-BB59-4C96-2699-B5AE100D59FC}"/>
              </a:ext>
            </a:extLst>
          </p:cNvPr>
          <p:cNvSpPr>
            <a:spLocks noGrp="1"/>
          </p:cNvSpPr>
          <p:nvPr>
            <p:ph idx="1"/>
          </p:nvPr>
        </p:nvSpPr>
        <p:spPr/>
        <p:txBody>
          <a:bodyPr>
            <a:normAutofit fontScale="85000" lnSpcReduction="20000"/>
          </a:bodyPr>
          <a:lstStyle/>
          <a:p>
            <a:pPr marL="0" indent="0">
              <a:buNone/>
            </a:pPr>
            <a:r>
              <a:rPr lang="en-US" dirty="0"/>
              <a:t>To build our model, we used 4 models and performed cross validation and grid search to obtain the model with the best results.</a:t>
            </a:r>
          </a:p>
          <a:p>
            <a:pPr marL="0" indent="0">
              <a:buNone/>
            </a:pPr>
            <a:endParaRPr lang="en-US" dirty="0"/>
          </a:p>
          <a:p>
            <a:pPr marL="0" indent="0">
              <a:buNone/>
            </a:pPr>
            <a:r>
              <a:rPr lang="en-US" dirty="0"/>
              <a:t>The models we used were:</a:t>
            </a:r>
          </a:p>
          <a:p>
            <a:pPr marL="0" indent="0">
              <a:buNone/>
            </a:pPr>
            <a:endParaRPr lang="en-US" dirty="0"/>
          </a:p>
          <a:p>
            <a:pPr>
              <a:buFontTx/>
              <a:buChar char="-"/>
            </a:pPr>
            <a:r>
              <a:rPr lang="en-US" dirty="0"/>
              <a:t>Multi-Layer Perceptron (MLP)</a:t>
            </a:r>
          </a:p>
          <a:p>
            <a:pPr>
              <a:buFontTx/>
              <a:buChar char="-"/>
            </a:pPr>
            <a:r>
              <a:rPr lang="en-US" dirty="0"/>
              <a:t>Random Forest Classifier</a:t>
            </a:r>
          </a:p>
          <a:p>
            <a:pPr>
              <a:buFontTx/>
              <a:buChar char="-"/>
            </a:pPr>
            <a:r>
              <a:rPr lang="en-US" dirty="0"/>
              <a:t>Logistic Regression</a:t>
            </a:r>
          </a:p>
          <a:p>
            <a:pPr>
              <a:buFontTx/>
              <a:buChar char="-"/>
            </a:pPr>
            <a:r>
              <a:rPr lang="en-US" dirty="0"/>
              <a:t>Extreme Gradient Boosting (</a:t>
            </a:r>
            <a:r>
              <a:rPr lang="en-US" dirty="0" err="1"/>
              <a:t>XGBoost</a:t>
            </a:r>
            <a:r>
              <a:rPr lang="en-US" dirty="0"/>
              <a:t>)</a:t>
            </a:r>
          </a:p>
          <a:p>
            <a:pPr marL="0" indent="0">
              <a:buNone/>
            </a:pPr>
            <a:endParaRPr lang="en-US" dirty="0"/>
          </a:p>
          <a:p>
            <a:pPr marL="0" indent="0">
              <a:buNone/>
            </a:pPr>
            <a:r>
              <a:rPr lang="en-US" dirty="0"/>
              <a:t>Our model uses a total of 11 features. Once we calculate the features, before training we also scale the data using a standard scaler.</a:t>
            </a:r>
            <a:endParaRPr lang="el-GR" dirty="0"/>
          </a:p>
        </p:txBody>
      </p:sp>
    </p:spTree>
    <p:extLst>
      <p:ext uri="{BB962C8B-B14F-4D97-AF65-F5344CB8AC3E}">
        <p14:creationId xmlns:p14="http://schemas.microsoft.com/office/powerpoint/2010/main" val="3179209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FE14C11-DAFA-4FEC-BABF-17871ABCC5DA}"/>
              </a:ext>
            </a:extLst>
          </p:cNvPr>
          <p:cNvSpPr>
            <a:spLocks noGrp="1"/>
          </p:cNvSpPr>
          <p:nvPr>
            <p:ph type="title"/>
          </p:nvPr>
        </p:nvSpPr>
        <p:spPr/>
        <p:txBody>
          <a:bodyPr/>
          <a:lstStyle/>
          <a:p>
            <a:r>
              <a:rPr lang="en-US" dirty="0"/>
              <a:t>Results of hyperparameter tuning and cross validation</a:t>
            </a:r>
            <a:endParaRPr lang="el-GR" dirty="0"/>
          </a:p>
        </p:txBody>
      </p:sp>
      <p:sp>
        <p:nvSpPr>
          <p:cNvPr id="3" name="Θέση περιεχομένου 2">
            <a:extLst>
              <a:ext uri="{FF2B5EF4-FFF2-40B4-BE49-F238E27FC236}">
                <a16:creationId xmlns:a16="http://schemas.microsoft.com/office/drawing/2014/main" id="{6C9458A2-8912-C7E4-CE5A-F50B752BE548}"/>
              </a:ext>
            </a:extLst>
          </p:cNvPr>
          <p:cNvSpPr>
            <a:spLocks noGrp="1"/>
          </p:cNvSpPr>
          <p:nvPr>
            <p:ph idx="1"/>
          </p:nvPr>
        </p:nvSpPr>
        <p:spPr/>
        <p:txBody>
          <a:bodyPr/>
          <a:lstStyle/>
          <a:p>
            <a:pPr marL="0" indent="0">
              <a:buNone/>
            </a:pPr>
            <a:r>
              <a:rPr lang="en-US" dirty="0"/>
              <a:t>The best performing model for the given task was an Extreme Gradient Boosting Classifier (</a:t>
            </a:r>
            <a:r>
              <a:rPr lang="en-US" dirty="0" err="1"/>
              <a:t>XGBoost</a:t>
            </a:r>
            <a:r>
              <a:rPr lang="en-US" dirty="0"/>
              <a:t>) with the following hyperparameters:</a:t>
            </a:r>
          </a:p>
          <a:p>
            <a:pPr marL="0" indent="0">
              <a:buNone/>
            </a:pPr>
            <a:endParaRPr lang="en-US" dirty="0"/>
          </a:p>
          <a:p>
            <a:pPr>
              <a:buFontTx/>
              <a:buChar char="-"/>
            </a:pPr>
            <a:r>
              <a:rPr lang="en-US" dirty="0"/>
              <a:t>Learning rate = 0.05</a:t>
            </a:r>
          </a:p>
          <a:p>
            <a:pPr>
              <a:buFontTx/>
              <a:buChar char="-"/>
            </a:pPr>
            <a:r>
              <a:rPr lang="en-US" dirty="0"/>
              <a:t>Max depth = 5</a:t>
            </a:r>
          </a:p>
          <a:p>
            <a:pPr>
              <a:buFontTx/>
              <a:buChar char="-"/>
            </a:pPr>
            <a:r>
              <a:rPr lang="en-US" dirty="0"/>
              <a:t>Number of estimators = 500</a:t>
            </a:r>
            <a:endParaRPr lang="el-GR" dirty="0"/>
          </a:p>
        </p:txBody>
      </p:sp>
    </p:spTree>
    <p:extLst>
      <p:ext uri="{BB962C8B-B14F-4D97-AF65-F5344CB8AC3E}">
        <p14:creationId xmlns:p14="http://schemas.microsoft.com/office/powerpoint/2010/main" val="113788759"/>
      </p:ext>
    </p:extLst>
  </p:cSld>
  <p:clrMapOvr>
    <a:masterClrMapping/>
  </p:clrMapOvr>
</p:sld>
</file>

<file path=ppt/theme/theme1.xml><?xml version="1.0" encoding="utf-8"?>
<a:theme xmlns:a="http://schemas.openxmlformats.org/drawingml/2006/main" name="Θέμα του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TotalTime>
  <Words>718</Words>
  <Application>Microsoft Office PowerPoint</Application>
  <PresentationFormat>Ευρεία οθόνη</PresentationFormat>
  <Paragraphs>77</Paragraphs>
  <Slides>11</Slides>
  <Notes>0</Notes>
  <HiddenSlides>0</HiddenSlides>
  <MMClips>0</MMClips>
  <ScaleCrop>false</ScaleCrop>
  <HeadingPairs>
    <vt:vector size="6" baseType="variant">
      <vt:variant>
        <vt:lpstr>Γραμματοσειρές που χρησιμοποιούνται</vt:lpstr>
      </vt:variant>
      <vt:variant>
        <vt:i4>3</vt:i4>
      </vt:variant>
      <vt:variant>
        <vt:lpstr>Θέμα</vt:lpstr>
      </vt:variant>
      <vt:variant>
        <vt:i4>1</vt:i4>
      </vt:variant>
      <vt:variant>
        <vt:lpstr>Τίτλοι διαφανειών</vt:lpstr>
      </vt:variant>
      <vt:variant>
        <vt:i4>11</vt:i4>
      </vt:variant>
    </vt:vector>
  </HeadingPairs>
  <TitlesOfParts>
    <vt:vector size="15" baseType="lpstr">
      <vt:lpstr>Aptos</vt:lpstr>
      <vt:lpstr>Aptos Display</vt:lpstr>
      <vt:lpstr>Arial</vt:lpstr>
      <vt:lpstr>Θέμα του Office</vt:lpstr>
      <vt:lpstr>Natural Language Processing</vt:lpstr>
      <vt:lpstr>The problem we were tasked to solve</vt:lpstr>
      <vt:lpstr>out of cite, out of mind</vt:lpstr>
      <vt:lpstr>Dataset for the model creation</vt:lpstr>
      <vt:lpstr>Goals of this challenge</vt:lpstr>
      <vt:lpstr>Preprocessing of the edgelist and creation of negative examples</vt:lpstr>
      <vt:lpstr>Features extracted from our graph</vt:lpstr>
      <vt:lpstr>Features extracted from the abstracts</vt:lpstr>
      <vt:lpstr>Features extracted from authors</vt:lpstr>
      <vt:lpstr>Models used for the prediction task</vt:lpstr>
      <vt:lpstr>Results of hyperparameter tuning and cross validation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ΣΤΕΦΑΝΟΣ ΓΚΕΡΣ - ΚΟΥΤΣΟΓΙΑΝΝΗΣ</dc:creator>
  <cp:lastModifiedBy>GEORGIOS VLETSAS</cp:lastModifiedBy>
  <cp:revision>16</cp:revision>
  <dcterms:created xsi:type="dcterms:W3CDTF">2025-06-13T12:20:59Z</dcterms:created>
  <dcterms:modified xsi:type="dcterms:W3CDTF">2025-06-14T17:45:52Z</dcterms:modified>
</cp:coreProperties>
</file>